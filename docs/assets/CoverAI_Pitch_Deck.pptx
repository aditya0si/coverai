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4114800" cy="41148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2654A"/>
                </a:solidFill>
                <a:latin typeface="Arial"/>
              </a:defRPr>
            </a:pPr>
            <a:r>
              <a:t>DPDP ACT 2023 COMPLIANT  ·  POWERED BY IBM BOB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191919"/>
                </a:solidFill>
                <a:latin typeface="Georgia"/>
              </a:defRPr>
            </a:pPr>
            <a:r>
              <a:t>CoverAI</a:t>
            </a:r>
          </a:p>
          <a:p>
            <a:pPr>
              <a:spcBef>
                <a:spcPts val="1200"/>
              </a:spcBef>
              <a:defRPr sz="2800">
                <a:solidFill>
                  <a:srgbClr val="6E6862"/>
                </a:solidFill>
                <a:latin typeface="Georgia"/>
              </a:defRPr>
            </a:pPr>
            <a:r>
              <a:t>Explainable AI Vehicle Insurance Claims &amp; Policy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3200400" cy="14630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  <a:latin typeface="Georgia"/>
              </a:defRPr>
            </a:pPr>
            <a:r>
              <a:t>Sub-Minute Triage</a:t>
            </a:r>
          </a:p>
          <a:p>
            <a:pPr>
              <a:spcBef>
                <a:spcPts val="6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Multimodal damage photo analysis &amp; real-time clause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572000"/>
            <a:ext cx="3200400" cy="14630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  <a:latin typeface="Georgia"/>
              </a:defRPr>
            </a:pPr>
            <a:r>
              <a:t>IBM Bob Agentic Pipeline</a:t>
            </a:r>
          </a:p>
          <a:p>
            <a:pPr>
              <a:spcBef>
                <a:spcPts val="6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Deep service-layer architecture &amp; semantic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4572000"/>
            <a:ext cx="3200400" cy="14630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  <a:latin typeface="Georgia"/>
              </a:defRPr>
            </a:pPr>
            <a:r>
              <a:t>Statutory Data Rights</a:t>
            </a:r>
          </a:p>
          <a:p>
            <a:pPr>
              <a:spcBef>
                <a:spcPts val="6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Consent revocation, full JSON exports &amp; 30-day right to erasure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654A"/>
                </a:solidFill>
                <a:latin typeface="Arial"/>
              </a:defRPr>
            </a:pPr>
            <a:r>
              <a:t>THE PROBLEM</a:t>
            </a:r>
          </a:p>
          <a:p>
            <a:pPr>
              <a:defRPr sz="2800" b="1">
                <a:solidFill>
                  <a:srgbClr val="191919"/>
                </a:solidFill>
                <a:latin typeface="Georgia"/>
              </a:defRPr>
            </a:pPr>
            <a:r>
              <a:t>The Broken Vehicle Insurance Claims Lifecycle in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0152" cy="12344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  <a:latin typeface="Georgia"/>
              </a:defRPr>
            </a:pPr>
            <a:r>
              <a:t>1. Opaque &amp; Protracted Triage</a:t>
            </a:r>
          </a:p>
          <a:p>
            <a:pPr>
              <a:spcBef>
                <a:spcPts val="4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Claims take 15 to 45 days for surveyor allocation and settlement. Policyholders face arbitrary deductions with zero transparency into clause interpretations.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10360152" cy="12344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  <a:latin typeface="Georgia"/>
              </a:defRPr>
            </a:pPr>
            <a:r>
              <a:t>2. Document Complexity &amp; Clause Gaps</a:t>
            </a:r>
          </a:p>
          <a:p>
            <a:pPr>
              <a:spcBef>
                <a:spcPts val="4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Over 78% of vehicle owners do not understand policy deductibles, Zero Depreciation riders, or hydrostatic lock exclusions, leading to 35%+ claim rejection disputes.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937760"/>
            <a:ext cx="10360152" cy="12344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  <a:latin typeface="Georgia"/>
              </a:defRPr>
            </a:pPr>
            <a:r>
              <a:t>3. DPDP Act Compliance Void</a:t>
            </a:r>
          </a:p>
          <a:p>
            <a:pPr>
              <a:spcBef>
                <a:spcPts val="4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With the enactment of India's DPDP Act 2023, insurers lack automated mechanisms for granular consent governance, data portability, and immutable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654A"/>
                </a:solidFill>
                <a:latin typeface="Arial"/>
              </a:defRPr>
            </a:pPr>
            <a:r>
              <a:t>THE SOLUTION</a:t>
            </a:r>
          </a:p>
          <a:p>
            <a:pPr>
              <a:defRPr sz="2800" b="1">
                <a:solidFill>
                  <a:srgbClr val="191919"/>
                </a:solidFill>
                <a:latin typeface="Georgia"/>
              </a:defRPr>
            </a:pPr>
            <a:r>
              <a:t>CoverAI: Explainable AI &amp; Statutory Privacy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19202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  <a:latin typeface="Georgia"/>
              </a:defRPr>
            </a:pPr>
            <a:r>
              <a:t>Instant Policy Ingestion</a:t>
            </a:r>
          </a:p>
          <a:p>
            <a:pPr>
              <a:spcBef>
                <a:spcPts val="6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Upload any motor policy PDF. Extracts IDV, deductibles, riders, and validity dates in &lt; 3 seconds using OCR and semantic chunking.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9202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  <a:latin typeface="Georgia"/>
              </a:defRPr>
            </a:pPr>
            <a:r>
              <a:t>Multimodal Triage Engine</a:t>
            </a:r>
          </a:p>
          <a:p>
            <a:pPr>
              <a:spcBef>
                <a:spcPts val="6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Analyzes damage photos, compares against policy clauses, and computes numerical risk scores with exact clause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5029200" cy="19202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  <a:latin typeface="Georgia"/>
              </a:defRPr>
            </a:pPr>
            <a:r>
              <a:t>Interactive AI Advisor</a:t>
            </a:r>
          </a:p>
          <a:p>
            <a:pPr>
              <a:spcBef>
                <a:spcPts val="6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SSE streaming chat interface enabling policyholders to ask questions about exclusions and deductible excess in plain English.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5029200" cy="19202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  <a:latin typeface="Georgia"/>
              </a:defRPr>
            </a:pPr>
            <a:r>
              <a:t>Statutory DPDP Portal</a:t>
            </a:r>
          </a:p>
          <a:p>
            <a:pPr>
              <a:spcBef>
                <a:spcPts val="6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First-class privacy console: toggle AI consent, generate instant JSON data archives, and schedule account erasure with 30-day grace.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654A"/>
                </a:solidFill>
                <a:latin typeface="Arial"/>
              </a:defRPr>
            </a:pPr>
            <a:r>
              <a:t>TECHNOLOGY SPOTLIGHT</a:t>
            </a:r>
          </a:p>
          <a:p>
            <a:pPr>
              <a:defRPr sz="2800" b="1">
                <a:solidFill>
                  <a:srgbClr val="191919"/>
                </a:solidFill>
                <a:latin typeface="Georgia"/>
              </a:defRPr>
            </a:pPr>
            <a:r>
              <a:t>How IBM Bob Accelerated CoverAI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10360152" cy="10058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  <a:latin typeface="Georgia"/>
              </a:defRPr>
            </a:pPr>
            <a:r>
              <a:t>Agentic Service-Layer Decomposition</a:t>
            </a:r>
          </a:p>
          <a:p>
            <a:pPr>
              <a:spcBef>
                <a:spcPts val="3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IBM Bob designed deep decoupled modules (ClaimService, TriageService, QAService), reducing circular route dependencies and establishing 100% type safety.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60152" cy="10058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  <a:latin typeface="Georgia"/>
              </a:defRPr>
            </a:pPr>
            <a:r>
              <a:t>Multi-Modal Document &amp; Vision Pipeline</a:t>
            </a:r>
          </a:p>
          <a:p>
            <a:pPr>
              <a:spcBef>
                <a:spcPts val="3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Assisted in orchestrating OCR clause extraction, image damage recognition, and JSON schema validation with fallback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10360152" cy="10058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  <a:latin typeface="Georgia"/>
              </a:defRPr>
            </a:pPr>
            <a:r>
              <a:t>DPDP Statutory Workflow Automation</a:t>
            </a:r>
          </a:p>
          <a:p>
            <a:pPr>
              <a:spcBef>
                <a:spcPts val="3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Constructed background workers for Fernet AES-256 field encryption, immutable append-only audit trails, and automatic JSON data export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10360152" cy="100584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  <a:latin typeface="Georgia"/>
              </a:defRPr>
            </a:pPr>
            <a:r>
              <a:t>Anthropic-Inspired Editorial Redesign</a:t>
            </a:r>
          </a:p>
          <a:p>
            <a:pPr>
              <a:spcBef>
                <a:spcPts val="3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Overhauled frontend design tokens (warm cream, charcoal, Playfair Display serif) across 15+ pages with zero layout code duplication.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654A"/>
                </a:solidFill>
                <a:latin typeface="Arial"/>
              </a:defRPr>
            </a:pPr>
            <a:r>
              <a:t>SYSTEM ARCHITECTURE</a:t>
            </a:r>
          </a:p>
          <a:p>
            <a:pPr>
              <a:defRPr sz="2800" b="1">
                <a:solidFill>
                  <a:srgbClr val="191919"/>
                </a:solidFill>
                <a:latin typeface="Georgia"/>
              </a:defRPr>
            </a:pPr>
            <a:r>
              <a:t>Turborepo Monorepo &amp; Decoupled Service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114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  <a:latin typeface="Georgia"/>
              </a:defRPr>
            </a:pPr>
            <a:r>
              <a:t>Frontend Application</a:t>
            </a:r>
          </a:p>
          <a:p>
            <a:pPr>
              <a:spcBef>
                <a:spcPts val="14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Next.js 14 App Router</a:t>
            </a:r>
            <a:br/>
            <a:r>
              <a:t>Tailwind CSS + Anthropic Palette</a:t>
            </a:r>
            <a:br/>
            <a:r>
              <a:t>Zustand State &amp; TanStack Query</a:t>
            </a:r>
            <a:br/>
            <a:r>
              <a:t>Unified AppShell Layout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3200400" cy="4114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  <a:latin typeface="Georgia"/>
              </a:defRPr>
            </a:pPr>
            <a:r>
              <a:t>Backend Services</a:t>
            </a:r>
          </a:p>
          <a:p>
            <a:pPr>
              <a:spcBef>
                <a:spcPts val="14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FastAPI Async ASGI Server</a:t>
            </a:r>
            <a:br/>
            <a:r>
              <a:t>ClaimService &amp; TriageService</a:t>
            </a:r>
            <a:br/>
            <a:r>
              <a:t>PostgreSQL 16 + pgvector</a:t>
            </a:r>
            <a:br/>
            <a:r>
              <a:t>Prometheus Scrape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011680"/>
            <a:ext cx="3200400" cy="4114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91919"/>
                </a:solidFill>
                <a:latin typeface="Georgia"/>
              </a:defRPr>
            </a:pPr>
            <a:r>
              <a:t>Shared Packages &amp; AI</a:t>
            </a:r>
          </a:p>
          <a:p>
            <a:pPr>
              <a:spcBef>
                <a:spcPts val="1400"/>
              </a:spcBef>
              <a:defRPr sz="1200">
                <a:solidFill>
                  <a:srgbClr val="6E6862"/>
                </a:solidFill>
                <a:latin typeface="Arial"/>
              </a:defRPr>
            </a:pPr>
            <a:r>
              <a:t>@coverai/shared-types (Zod)</a:t>
            </a:r>
            <a:br/>
            <a:r>
              <a:t>@coverai/ui (Capsule Primitives)</a:t>
            </a:r>
            <a:br/>
            <a:r>
              <a:t>Google Gemini Reasoning Engine</a:t>
            </a:r>
            <a:br/>
            <a:r>
              <a:t>Fernet Field-Level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654A"/>
                </a:solidFill>
                <a:latin typeface="Arial"/>
              </a:defRPr>
            </a:pPr>
            <a:r>
              <a:t>MULTI-STAKEHOLDER PORTALS</a:t>
            </a:r>
          </a:p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Three Unified Stakeholder Experiences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1148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Policyholder Portal</a:t>
            </a:r>
          </a:p>
          <a:p>
            <a:pPr>
              <a:spcBef>
                <a:spcPts val="1200"/>
              </a:spcBef>
              <a:defRPr sz="1200">
                <a:solidFill>
                  <a:srgbClr val="B4AFA8"/>
                </a:solidFill>
                <a:latin typeface="Arial"/>
              </a:defRPr>
            </a:pPr>
            <a:r>
              <a:t>• Drag &amp; drop photo evidence upload</a:t>
            </a:r>
            <a:br/>
            <a:r>
              <a:t>• Interactive Policy Vault &amp; Deductibles</a:t>
            </a:r>
            <a:br/>
            <a:r>
              <a:t>• Real-time SSE AI Advisor chat</a:t>
            </a:r>
            <a:br/>
            <a:r>
              <a:t>• DPDP Privacy console &amp; export archives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3200400" cy="41148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Claims Officer Command</a:t>
            </a:r>
          </a:p>
          <a:p>
            <a:pPr>
              <a:spcBef>
                <a:spcPts val="1200"/>
              </a:spcBef>
              <a:defRPr sz="1200">
                <a:solidFill>
                  <a:srgbClr val="B4AFA8"/>
                </a:solidFill>
                <a:latin typeface="Arial"/>
              </a:defRPr>
            </a:pPr>
            <a:r>
              <a:t>• Live triage claims queue with risk scoring</a:t>
            </a:r>
            <a:br/>
            <a:r>
              <a:t>• Threat vector radar (late night, doc mismatch)</a:t>
            </a:r>
            <a:br/>
            <a:r>
              <a:t>• Prometheus scrape metrics gauge</a:t>
            </a:r>
            <a:br/>
            <a:r>
              <a:t>• Expandable audit log state diff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011680"/>
            <a:ext cx="3200400" cy="4114800"/>
          </a:xfrm>
          <a:prstGeom prst="roundRect">
            <a:avLst/>
          </a:prstGeom>
          <a:solidFill>
            <a:srgbClr val="262626"/>
          </a:solidFill>
          <a:ln w="127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Insurance Advisor Hub</a:t>
            </a:r>
          </a:p>
          <a:p>
            <a:pPr>
              <a:spcBef>
                <a:spcPts val="1200"/>
              </a:spcBef>
              <a:defRPr sz="1200">
                <a:solidFill>
                  <a:srgbClr val="B4AFA8"/>
                </a:solidFill>
                <a:latin typeface="Arial"/>
              </a:defRPr>
            </a:pPr>
            <a:r>
              <a:t>• Client portfolio dossier management</a:t>
            </a:r>
            <a:br/>
            <a:r>
              <a:t>• Claim representation &amp; dispute advocacy</a:t>
            </a:r>
            <a:br/>
            <a:r>
              <a:t>• Policy renewal due tracking</a:t>
            </a:r>
            <a:br/>
            <a:r>
              <a:t>• Direct customer authorization linkage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654A"/>
                </a:solidFill>
                <a:latin typeface="Arial"/>
              </a:defRPr>
            </a:pPr>
            <a:r>
              <a:t>DATA GOVERNANCE &amp; PRIVACY</a:t>
            </a:r>
          </a:p>
          <a:p>
            <a:pPr>
              <a:defRPr sz="2800" b="1">
                <a:solidFill>
                  <a:srgbClr val="191919"/>
                </a:solidFill>
                <a:latin typeface="Georgia"/>
              </a:defRPr>
            </a:pPr>
            <a:r>
              <a:t>Engineered for India's DPDP Act 2023 from Day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1828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  <a:latin typeface="Georgia"/>
              </a:defRPr>
            </a:pPr>
            <a:r>
              <a:t>Granular Consent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Separate switches for AI analysis, marketing, and advisor sharing with real-time enforcement gating downstream APIs.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828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  <a:latin typeface="Georgia"/>
              </a:defRPr>
            </a:pPr>
            <a:r>
              <a:t>Right to Data Portability</a:t>
            </a:r>
          </a:p>
          <a:p>
            <a:pPr>
              <a:spcBef>
                <a:spcPts val="6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One-click generation of machine-readable JSON dossiers compiling user profiles, policy parameters, and claim audit trails.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5029200" cy="1828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  <a:latin typeface="Georgia"/>
              </a:defRPr>
            </a:pPr>
            <a:r>
              <a:t>Right to Erasure with 30-Day Grace</a:t>
            </a:r>
          </a:p>
          <a:p>
            <a:pPr>
              <a:spcBef>
                <a:spcPts val="6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Statutory withdrawal period with automated cancellation hooks and permanent cryptographic key shredding.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029200" cy="1828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91919"/>
                </a:solidFill>
                <a:latin typeface="Georgia"/>
              </a:defRPr>
            </a:pPr>
            <a:r>
              <a:t>Fernet AES-256 Field Encryption</a:t>
            </a:r>
          </a:p>
          <a:p>
            <a:pPr>
              <a:spcBef>
                <a:spcPts val="6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All PII and sensitive vehicular data encrypted at rest in PostgreSQL with 7-year regulatory audit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2654A"/>
                </a:solidFill>
                <a:latin typeface="Arial"/>
              </a:defRPr>
            </a:pPr>
            <a:r>
              <a:t>BUSINESS VALUE &amp; IMPACT</a:t>
            </a:r>
          </a:p>
          <a:p>
            <a:pPr>
              <a:defRPr sz="2800" b="1">
                <a:solidFill>
                  <a:srgbClr val="191919"/>
                </a:solidFill>
                <a:latin typeface="Georgia"/>
              </a:defRPr>
            </a:pPr>
            <a:r>
              <a:t>Quantifiable ROI for Insurers &amp; Policyholders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468880" cy="4114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2654A"/>
                </a:solidFill>
                <a:latin typeface="Georgia"/>
              </a:defRPr>
            </a:pPr>
            <a:r>
              <a:t>90%</a:t>
            </a:r>
          </a:p>
          <a:p>
            <a:pPr>
              <a:spcBef>
                <a:spcPts val="800"/>
              </a:spcBef>
              <a:defRPr sz="1500" b="1">
                <a:solidFill>
                  <a:srgbClr val="191919"/>
                </a:solidFill>
                <a:latin typeface="Georgia"/>
              </a:defRPr>
            </a:pPr>
            <a:r>
              <a:t>Faster Triage</a:t>
            </a:r>
          </a:p>
          <a:p>
            <a:pPr>
              <a:spcBef>
                <a:spcPts val="8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Reduces initial claim assessment from 3-5 business days to under 45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2011680"/>
            <a:ext cx="2468880" cy="4114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2654A"/>
                </a:solidFill>
                <a:latin typeface="Georgia"/>
              </a:defRPr>
            </a:pPr>
            <a:r>
              <a:t>40%</a:t>
            </a:r>
          </a:p>
          <a:p>
            <a:pPr>
              <a:spcBef>
                <a:spcPts val="800"/>
              </a:spcBef>
              <a:defRPr sz="1500" b="1">
                <a:solidFill>
                  <a:srgbClr val="191919"/>
                </a:solidFill>
                <a:latin typeface="Georgia"/>
              </a:defRPr>
            </a:pPr>
            <a:r>
              <a:t>OpEx Savings</a:t>
            </a:r>
          </a:p>
          <a:p>
            <a:pPr>
              <a:spcBef>
                <a:spcPts val="8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Minimizes unnecessary on-site surveyor dispatches through visual damage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468880" cy="4114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2654A"/>
                </a:solidFill>
                <a:latin typeface="Georgia"/>
              </a:defRPr>
            </a:pPr>
            <a:r>
              <a:t>35%</a:t>
            </a:r>
          </a:p>
          <a:p>
            <a:pPr>
              <a:spcBef>
                <a:spcPts val="800"/>
              </a:spcBef>
              <a:defRPr sz="1500" b="1">
                <a:solidFill>
                  <a:srgbClr val="191919"/>
                </a:solidFill>
                <a:latin typeface="Georgia"/>
              </a:defRPr>
            </a:pPr>
            <a:r>
              <a:t>Fewer Disputes</a:t>
            </a:r>
          </a:p>
          <a:p>
            <a:pPr>
              <a:spcBef>
                <a:spcPts val="8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Transparent plain-language clause explanations prevent rejection conflicts.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011680"/>
            <a:ext cx="2468880" cy="411480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D2654A"/>
                </a:solidFill>
                <a:latin typeface="Georgia"/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500" b="1">
                <a:solidFill>
                  <a:srgbClr val="191919"/>
                </a:solidFill>
                <a:latin typeface="Georgia"/>
              </a:defRPr>
            </a:pPr>
            <a:r>
              <a:t>DPDP Ready</a:t>
            </a:r>
          </a:p>
          <a:p>
            <a:pPr>
              <a:spcBef>
                <a:spcPts val="800"/>
              </a:spcBef>
              <a:defRPr sz="1100">
                <a:solidFill>
                  <a:srgbClr val="6E6862"/>
                </a:solidFill>
                <a:latin typeface="Arial"/>
              </a:defRPr>
            </a:pPr>
            <a:r>
              <a:t>Complete statutory compliance shielding insurers from regulatory penalties.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2654A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800"/>
              </a:spcBef>
              <a:defRPr sz="3600" b="1">
                <a:solidFill>
                  <a:srgbClr val="191919"/>
                </a:solidFill>
                <a:latin typeface="Georgia"/>
              </a:defRPr>
            </a:pPr>
            <a:r>
              <a:t>CoverAI: Transparent, Fast &amp; Compliant</a:t>
            </a:r>
          </a:p>
          <a:p>
            <a:pPr>
              <a:spcBef>
                <a:spcPts val="1600"/>
              </a:spcBef>
              <a:defRPr sz="1400">
                <a:solidFill>
                  <a:srgbClr val="6E6862"/>
                </a:solidFill>
                <a:latin typeface="Arial"/>
              </a:defRPr>
            </a:pPr>
            <a:r>
              <a:t>CoverAI combines the power of IBM Bob agentic orchestration, multimodal visual AI, and statutory DPDP 2023 compliance to build the next generation of motor insurance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9445752" cy="1645920"/>
          </a:xfrm>
          <a:prstGeom prst="roundRect">
            <a:avLst/>
          </a:prstGeom>
          <a:solidFill>
            <a:srgbClr val="F1EDE4"/>
          </a:solidFill>
          <a:ln w="12700">
            <a:solidFill>
              <a:srgbClr val="E2D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91919"/>
                </a:solidFill>
                <a:latin typeface="Georgia"/>
              </a:defRPr>
            </a:pPr>
            <a:r>
              <a:t>Project Links &amp; Resources</a:t>
            </a:r>
          </a:p>
          <a:p>
            <a:pPr>
              <a:spcBef>
                <a:spcPts val="600"/>
              </a:spcBef>
              <a:defRPr sz="1200">
                <a:solidFill>
                  <a:srgbClr val="191919"/>
                </a:solidFill>
                <a:latin typeface="Arial"/>
              </a:defRPr>
            </a:pPr>
            <a:r>
              <a:t>• GitHub Repository: https://github.com/aditya0si/CoverAI</a:t>
            </a:r>
          </a:p>
          <a:p>
            <a:pPr>
              <a:spcBef>
                <a:spcPts val="300"/>
              </a:spcBef>
              <a:defRPr sz="1200">
                <a:solidFill>
                  <a:srgbClr val="191919"/>
                </a:solidFill>
                <a:latin typeface="Arial"/>
              </a:defRPr>
            </a:pPr>
            <a:r>
              <a:t>• IBM Bob Documentation: See IBM_BOB_TECHNOLOGY.md in root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